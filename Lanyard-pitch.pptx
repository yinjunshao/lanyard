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914" y="10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6558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201168" cy="1828800"/>
          </a:xfrm>
          <a:prstGeom prst="rect">
            <a:avLst/>
          </a:prstGeom>
          <a:solidFill>
            <a:srgbClr val="C8F2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256032" y="256032"/>
            <a:ext cx="1828800" cy="201168"/>
          </a:xfrm>
          <a:prstGeom prst="rect">
            <a:avLst/>
          </a:prstGeom>
          <a:solidFill>
            <a:srgbClr val="C8F2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993854" y="256032"/>
            <a:ext cx="201168" cy="1828800"/>
          </a:xfrm>
          <a:prstGeom prst="rect">
            <a:avLst/>
          </a:prstGeom>
          <a:solidFill>
            <a:srgbClr val="C8F2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993854" y="256032"/>
            <a:ext cx="1828800" cy="201168"/>
          </a:xfrm>
          <a:prstGeom prst="rect">
            <a:avLst/>
          </a:prstGeom>
          <a:solidFill>
            <a:srgbClr val="C8F2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56032" y="6660158"/>
            <a:ext cx="201168" cy="1828800"/>
          </a:xfrm>
          <a:prstGeom prst="rect">
            <a:avLst/>
          </a:prstGeom>
          <a:solidFill>
            <a:srgbClr val="C8F2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56032" y="6660158"/>
            <a:ext cx="1828800" cy="201168"/>
          </a:xfrm>
          <a:prstGeom prst="rect">
            <a:avLst/>
          </a:prstGeom>
          <a:solidFill>
            <a:srgbClr val="C8F2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1993852" y="6668469"/>
            <a:ext cx="201168" cy="1828800"/>
          </a:xfrm>
          <a:prstGeom prst="rect">
            <a:avLst/>
          </a:prstGeom>
          <a:solidFill>
            <a:srgbClr val="C8F2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1993852" y="6668469"/>
            <a:ext cx="1828800" cy="201168"/>
          </a:xfrm>
          <a:prstGeom prst="rect">
            <a:avLst/>
          </a:prstGeom>
          <a:solidFill>
            <a:srgbClr val="C8F2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331394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8F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r>
              <a:rPr lang="en-US" sz="1800" b="1" dirty="0">
                <a:solidFill>
                  <a:srgbClr val="C8F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anyard.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554480"/>
            <a:ext cx="8595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everyone you</a:t>
            </a:r>
            <a:r>
              <a:rPr lang="en-US" sz="6000" dirty="0"/>
              <a:t> </a:t>
            </a:r>
            <a:r>
              <a:rPr lang="en-US" sz="6000" b="1" dirty="0">
                <a:solidFill>
                  <a:srgbClr val="C8F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meet.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640080" y="47548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9C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Yinjun Shao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5806440"/>
            <a:ext cx="4297680" cy="347472"/>
          </a:xfrm>
          <a:prstGeom prst="roundRect">
            <a:avLst>
              <a:gd name="adj" fmla="val 15789"/>
            </a:avLst>
          </a:prstGeom>
          <a:solidFill>
            <a:srgbClr val="C8F238"/>
          </a:solidFill>
          <a:ln w="12700">
            <a:solidFill>
              <a:srgbClr val="0E111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40080" y="587044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11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UCL · CLAUDE BUILDERS CLUB HACKATHON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326880" y="1371600"/>
            <a:ext cx="21945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0E1110"/>
            </a:solidFill>
            <a:prstDash val="solid"/>
          </a:ln>
          <a:effectLst>
            <a:outerShdw blurRad="101600" dist="63500" dir="2700000" algn="bl" rotWithShape="0">
              <a:srgbClr val="0E1110">
                <a:alpha val="85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37" name="Text 35"/>
          <p:cNvSpPr/>
          <p:nvPr/>
        </p:nvSpPr>
        <p:spPr>
          <a:xfrm>
            <a:off x="932688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11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TO CONNECT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0E11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THE DEMO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0AF840B-EEFC-AFD6-43A5-6FA0F8DB1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" y="838200"/>
            <a:ext cx="6096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201168" cy="1828800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256032" y="256032"/>
            <a:ext cx="1828800" cy="201168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993852" y="256032"/>
            <a:ext cx="201168" cy="1828800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993852" y="256032"/>
            <a:ext cx="1828800" cy="201168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56032" y="6660159"/>
            <a:ext cx="201168" cy="1828800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56032" y="6660159"/>
            <a:ext cx="1828800" cy="201168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1993854" y="6643533"/>
            <a:ext cx="201168" cy="1828800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1993854" y="6643533"/>
            <a:ext cx="1828800" cy="201168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E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meet constantly - </a:t>
            </a:r>
            <a:r>
              <a:rPr lang="en-US" sz="3800" b="1" dirty="0">
                <a:solidFill>
                  <a:srgbClr val="4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forget almost all of it.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640080" y="228600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7F8F2"/>
          </a:solidFill>
          <a:ln w="15875">
            <a:solidFill>
              <a:srgbClr val="0E1110"/>
            </a:solidFill>
            <a:prstDash val="solid"/>
          </a:ln>
          <a:effectLst>
            <a:outerShdw blurRad="101600" dist="63500" dir="2700000" algn="bl" rotWithShape="0">
              <a:srgbClr val="0E1110">
                <a:alpha val="8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914400" y="2578608"/>
            <a:ext cx="457200" cy="457200"/>
          </a:xfrm>
          <a:prstGeom prst="rect">
            <a:avLst/>
          </a:prstGeom>
          <a:solidFill>
            <a:srgbClr val="C8F238"/>
          </a:solidFill>
          <a:ln w="12700">
            <a:solidFill>
              <a:srgbClr val="0E111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914400" y="26334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11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3337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name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4400" y="38862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9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great conversation, then “sorry, remind me your name?” the next time you bump into them.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462272" y="228600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7F8F2"/>
          </a:solidFill>
          <a:ln w="15875">
            <a:solidFill>
              <a:srgbClr val="0E1110"/>
            </a:solidFill>
            <a:prstDash val="solid"/>
          </a:ln>
          <a:effectLst>
            <a:outerShdw blurRad="101600" dist="63500" dir="2700000" algn="bl" rotWithShape="0">
              <a:srgbClr val="0E1110">
                <a:alpha val="8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736592" y="2578608"/>
            <a:ext cx="457200" cy="457200"/>
          </a:xfrm>
          <a:prstGeom prst="rect">
            <a:avLst/>
          </a:prstGeom>
          <a:solidFill>
            <a:srgbClr val="C8F238"/>
          </a:solidFill>
          <a:ln w="12700">
            <a:solidFill>
              <a:srgbClr val="0E111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736592" y="26334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11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36592" y="3337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context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736592" y="38862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9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can’t place where you met and what they do, which makes following up feel awkward.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284464" y="228600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7F8F2"/>
          </a:solidFill>
          <a:ln w="15875">
            <a:solidFill>
              <a:srgbClr val="0E1110"/>
            </a:solidFill>
            <a:prstDash val="solid"/>
          </a:ln>
          <a:effectLst>
            <a:outerShdw blurRad="101600" dist="63500" dir="2700000" algn="bl" rotWithShape="0">
              <a:srgbClr val="0E1110">
                <a:alpha val="8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8558784" y="2578608"/>
            <a:ext cx="457200" cy="457200"/>
          </a:xfrm>
          <a:prstGeom prst="rect">
            <a:avLst/>
          </a:prstGeom>
          <a:solidFill>
            <a:srgbClr val="C8F238"/>
          </a:solidFill>
          <a:ln w="12700">
            <a:solidFill>
              <a:srgbClr val="0E111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8558784" y="26334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11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558784" y="3337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handles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558784" y="38862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9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Wasting time sharing your social handles with each other.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9403A"/>
                </a:solidFill>
                <a:latin typeface="Arial" pitchFamily="34" charset="0"/>
                <a:cs typeface="Arial" pitchFamily="34" charset="-120"/>
              </a:rPr>
              <a:t>Typos in usernames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9403A"/>
                </a:solidFill>
                <a:latin typeface="Arial" pitchFamily="34" charset="0"/>
                <a:cs typeface="Arial" pitchFamily="34" charset="-120"/>
              </a:rPr>
              <a:t>Follow requests left on read</a:t>
            </a:r>
          </a:p>
        </p:txBody>
      </p:sp>
      <p:sp>
        <p:nvSpPr>
          <p:cNvPr id="27" name="Text 25"/>
          <p:cNvSpPr/>
          <p:nvPr/>
        </p:nvSpPr>
        <p:spPr>
          <a:xfrm>
            <a:off x="64008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6C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network is there in the room. The memory isn’t.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lanyard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C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201168" cy="1828800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256032" y="256032"/>
            <a:ext cx="1828800" cy="201168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Lanyard is a living profile card students exchange with one scan or a 4-character code.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40080" y="196596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7F8F2"/>
          </a:solidFill>
          <a:ln w="15875">
            <a:solidFill>
              <a:srgbClr val="0E1110"/>
            </a:solidFill>
            <a:prstDash val="solid"/>
          </a:ln>
          <a:effectLst>
            <a:outerShdw blurRad="101600" dist="63500" dir="2700000" algn="bl" rotWithShape="0">
              <a:srgbClr val="0E1110">
                <a:alpha val="8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914400" y="218541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card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14400" y="2624328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9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university, course &amp; year, age, tagline, what people can come to you for, about, and every social link.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196596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7F8F2"/>
          </a:solidFill>
          <a:ln w="15875">
            <a:solidFill>
              <a:srgbClr val="0E1110"/>
            </a:solidFill>
            <a:prstDash val="solid"/>
          </a:ln>
          <a:effectLst>
            <a:outerShdw blurRad="101600" dist="63500" dir="2700000" algn="bl" rotWithShape="0">
              <a:srgbClr val="0E1110">
                <a:alpha val="8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583680" y="218541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or 4-char code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583680" y="2624328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9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your code; they scan or type it. Both cards land in each other’s networks instantly.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913632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7F8F2"/>
          </a:solidFill>
          <a:ln w="15875">
            <a:solidFill>
              <a:srgbClr val="0E1110"/>
            </a:solidFill>
            <a:prstDash val="solid"/>
          </a:ln>
          <a:effectLst>
            <a:outerShdw blurRad="101600" dist="63500" dir="2700000" algn="bl" rotWithShape="0">
              <a:srgbClr val="0E1110">
                <a:alpha val="8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914400" y="41330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hello note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14400" y="45720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9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per-person note baked into the QR — “we met at the Claude Builders Hackathon” — so the context survives.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3913632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7F8F2"/>
          </a:solidFill>
          <a:ln w="15875">
            <a:solidFill>
              <a:srgbClr val="0E1110"/>
            </a:solidFill>
            <a:prstDash val="solid"/>
          </a:ln>
          <a:effectLst>
            <a:outerShdw blurRad="101600" dist="63500" dir="2700000" algn="bl" rotWithShape="0">
              <a:srgbClr val="0E1110">
                <a:alpha val="8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583680" y="41330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photo together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583680" y="45720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9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 a shared selfie the moment you meet; it’s attached to both cards as the visual memory.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lanyard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C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4D6238F2-F2F0-F928-C482-11D94F3877D9}"/>
              </a:ext>
            </a:extLst>
          </p:cNvPr>
          <p:cNvSpPr/>
          <p:nvPr/>
        </p:nvSpPr>
        <p:spPr>
          <a:xfrm>
            <a:off x="11993852" y="256032"/>
            <a:ext cx="201168" cy="1828800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A60FB37C-3C7E-6A59-DA75-46B5F5384DD0}"/>
              </a:ext>
            </a:extLst>
          </p:cNvPr>
          <p:cNvSpPr/>
          <p:nvPr/>
        </p:nvSpPr>
        <p:spPr>
          <a:xfrm>
            <a:off x="11993852" y="256032"/>
            <a:ext cx="1828800" cy="201168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E98807C2-6789-360E-4CB3-4B09439AF82C}"/>
              </a:ext>
            </a:extLst>
          </p:cNvPr>
          <p:cNvSpPr/>
          <p:nvPr/>
        </p:nvSpPr>
        <p:spPr>
          <a:xfrm>
            <a:off x="256032" y="6660159"/>
            <a:ext cx="201168" cy="1828800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Shape 5">
            <a:extLst>
              <a:ext uri="{FF2B5EF4-FFF2-40B4-BE49-F238E27FC236}">
                <a16:creationId xmlns:a16="http://schemas.microsoft.com/office/drawing/2014/main" id="{EEE69B9B-2C2D-E45F-B896-47DBBDB006E7}"/>
              </a:ext>
            </a:extLst>
          </p:cNvPr>
          <p:cNvSpPr/>
          <p:nvPr/>
        </p:nvSpPr>
        <p:spPr>
          <a:xfrm>
            <a:off x="256032" y="6660159"/>
            <a:ext cx="1828800" cy="201168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6">
            <a:extLst>
              <a:ext uri="{FF2B5EF4-FFF2-40B4-BE49-F238E27FC236}">
                <a16:creationId xmlns:a16="http://schemas.microsoft.com/office/drawing/2014/main" id="{5B478C55-84C0-F7DE-3AD6-1B31289BCB53}"/>
              </a:ext>
            </a:extLst>
          </p:cNvPr>
          <p:cNvSpPr/>
          <p:nvPr/>
        </p:nvSpPr>
        <p:spPr>
          <a:xfrm>
            <a:off x="11993854" y="6643533"/>
            <a:ext cx="201168" cy="1828800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Shape 7">
            <a:extLst>
              <a:ext uri="{FF2B5EF4-FFF2-40B4-BE49-F238E27FC236}">
                <a16:creationId xmlns:a16="http://schemas.microsoft.com/office/drawing/2014/main" id="{7F207BF6-C6F6-B141-95F4-F766FB5618E9}"/>
              </a:ext>
            </a:extLst>
          </p:cNvPr>
          <p:cNvSpPr/>
          <p:nvPr/>
        </p:nvSpPr>
        <p:spPr>
          <a:xfrm>
            <a:off x="11993854" y="6643533"/>
            <a:ext cx="1828800" cy="201168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201168" cy="1828800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256032" y="256032"/>
            <a:ext cx="1828800" cy="201168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CARD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a contact app should have — built for a student.</a:t>
            </a:r>
            <a:endParaRPr lang="en-US" sz="2800" dirty="0"/>
          </a:p>
        </p:txBody>
      </p:sp>
      <p:sp>
        <p:nvSpPr>
          <p:cNvPr id="46" name="Shape 44"/>
          <p:cNvSpPr/>
          <p:nvPr/>
        </p:nvSpPr>
        <p:spPr>
          <a:xfrm>
            <a:off x="640080" y="1856232"/>
            <a:ext cx="146304" cy="146304"/>
          </a:xfrm>
          <a:prstGeom prst="rect">
            <a:avLst/>
          </a:prstGeom>
          <a:solidFill>
            <a:srgbClr val="9FD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932688" y="1783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0E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450" dirty="0"/>
          </a:p>
        </p:txBody>
      </p:sp>
      <p:sp>
        <p:nvSpPr>
          <p:cNvPr id="48" name="Shape 46"/>
          <p:cNvSpPr/>
          <p:nvPr/>
        </p:nvSpPr>
        <p:spPr>
          <a:xfrm>
            <a:off x="640080" y="2569464"/>
            <a:ext cx="146304" cy="146304"/>
          </a:xfrm>
          <a:prstGeom prst="rect">
            <a:avLst/>
          </a:prstGeom>
          <a:solidFill>
            <a:srgbClr val="9FD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932688" y="24963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0E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1450" dirty="0"/>
          </a:p>
        </p:txBody>
      </p:sp>
      <p:sp>
        <p:nvSpPr>
          <p:cNvPr id="50" name="Shape 48"/>
          <p:cNvSpPr/>
          <p:nvPr/>
        </p:nvSpPr>
        <p:spPr>
          <a:xfrm>
            <a:off x="640080" y="3282696"/>
            <a:ext cx="146304" cy="146304"/>
          </a:xfrm>
          <a:prstGeom prst="rect">
            <a:avLst/>
          </a:prstGeom>
          <a:solidFill>
            <a:srgbClr val="9FD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932688" y="320954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0E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/ degree</a:t>
            </a:r>
            <a:endParaRPr lang="en-US" sz="1450" dirty="0"/>
          </a:p>
        </p:txBody>
      </p:sp>
      <p:sp>
        <p:nvSpPr>
          <p:cNvPr id="52" name="Shape 50"/>
          <p:cNvSpPr/>
          <p:nvPr/>
        </p:nvSpPr>
        <p:spPr>
          <a:xfrm>
            <a:off x="640080" y="3995928"/>
            <a:ext cx="146304" cy="146304"/>
          </a:xfrm>
          <a:prstGeom prst="rect">
            <a:avLst/>
          </a:prstGeom>
          <a:solidFill>
            <a:srgbClr val="9FD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932688" y="392277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0E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of study</a:t>
            </a:r>
            <a:endParaRPr lang="en-US" sz="1450" dirty="0"/>
          </a:p>
        </p:txBody>
      </p:sp>
      <p:sp>
        <p:nvSpPr>
          <p:cNvPr id="54" name="Shape 52"/>
          <p:cNvSpPr/>
          <p:nvPr/>
        </p:nvSpPr>
        <p:spPr>
          <a:xfrm>
            <a:off x="640080" y="4709160"/>
            <a:ext cx="146304" cy="146304"/>
          </a:xfrm>
          <a:prstGeom prst="rect">
            <a:avLst/>
          </a:prstGeom>
          <a:solidFill>
            <a:srgbClr val="9FD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932688" y="46360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0E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endParaRPr lang="en-US" sz="1450" dirty="0"/>
          </a:p>
        </p:txBody>
      </p:sp>
      <p:sp>
        <p:nvSpPr>
          <p:cNvPr id="56" name="Shape 54"/>
          <p:cNvSpPr/>
          <p:nvPr/>
        </p:nvSpPr>
        <p:spPr>
          <a:xfrm>
            <a:off x="640080" y="5422392"/>
            <a:ext cx="146304" cy="146304"/>
          </a:xfrm>
          <a:prstGeom prst="rect">
            <a:avLst/>
          </a:prstGeom>
          <a:solidFill>
            <a:srgbClr val="9FD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Text 55"/>
          <p:cNvSpPr/>
          <p:nvPr/>
        </p:nvSpPr>
        <p:spPr>
          <a:xfrm>
            <a:off x="932688" y="53492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0E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One-line tagline</a:t>
            </a:r>
            <a:endParaRPr lang="en-US" sz="1450" dirty="0"/>
          </a:p>
        </p:txBody>
      </p:sp>
      <p:sp>
        <p:nvSpPr>
          <p:cNvPr id="58" name="Shape 56"/>
          <p:cNvSpPr/>
          <p:nvPr/>
        </p:nvSpPr>
        <p:spPr>
          <a:xfrm>
            <a:off x="3886200" y="1856232"/>
            <a:ext cx="146304" cy="146304"/>
          </a:xfrm>
          <a:prstGeom prst="rect">
            <a:avLst/>
          </a:prstGeom>
          <a:solidFill>
            <a:srgbClr val="9FD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4178808" y="1783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50" b="1" dirty="0">
                <a:solidFill>
                  <a:srgbClr val="4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people can come to me for</a:t>
            </a:r>
            <a:endParaRPr lang="en-US" sz="1450" dirty="0"/>
          </a:p>
        </p:txBody>
      </p:sp>
      <p:sp>
        <p:nvSpPr>
          <p:cNvPr id="60" name="Shape 58"/>
          <p:cNvSpPr/>
          <p:nvPr/>
        </p:nvSpPr>
        <p:spPr>
          <a:xfrm>
            <a:off x="3886200" y="2569464"/>
            <a:ext cx="146304" cy="146304"/>
          </a:xfrm>
          <a:prstGeom prst="rect">
            <a:avLst/>
          </a:prstGeom>
          <a:solidFill>
            <a:srgbClr val="9FD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/>
          <p:nvPr/>
        </p:nvSpPr>
        <p:spPr>
          <a:xfrm>
            <a:off x="4178808" y="24963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0E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me</a:t>
            </a:r>
            <a:endParaRPr lang="en-US" sz="1450" dirty="0"/>
          </a:p>
        </p:txBody>
      </p:sp>
      <p:sp>
        <p:nvSpPr>
          <p:cNvPr id="62" name="Shape 60"/>
          <p:cNvSpPr/>
          <p:nvPr/>
        </p:nvSpPr>
        <p:spPr>
          <a:xfrm>
            <a:off x="3886200" y="3282696"/>
            <a:ext cx="146304" cy="146304"/>
          </a:xfrm>
          <a:prstGeom prst="rect">
            <a:avLst/>
          </a:prstGeom>
          <a:solidFill>
            <a:srgbClr val="9FD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3" name="Text 61"/>
          <p:cNvSpPr/>
          <p:nvPr/>
        </p:nvSpPr>
        <p:spPr>
          <a:xfrm>
            <a:off x="4178808" y="320954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4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 note (per person)</a:t>
            </a:r>
            <a:endParaRPr lang="en-US" sz="1450" dirty="0"/>
          </a:p>
        </p:txBody>
      </p:sp>
      <p:sp>
        <p:nvSpPr>
          <p:cNvPr id="64" name="Shape 62"/>
          <p:cNvSpPr/>
          <p:nvPr/>
        </p:nvSpPr>
        <p:spPr>
          <a:xfrm>
            <a:off x="3886200" y="3995928"/>
            <a:ext cx="146304" cy="146304"/>
          </a:xfrm>
          <a:prstGeom prst="rect">
            <a:avLst/>
          </a:prstGeom>
          <a:solidFill>
            <a:srgbClr val="9FD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5" name="Text 63"/>
          <p:cNvSpPr/>
          <p:nvPr/>
        </p:nvSpPr>
        <p:spPr>
          <a:xfrm>
            <a:off x="4178808" y="392277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0E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· GitHub · Portfolio · Instagram</a:t>
            </a:r>
            <a:endParaRPr lang="en-US" sz="1450" dirty="0"/>
          </a:p>
        </p:txBody>
      </p:sp>
      <p:sp>
        <p:nvSpPr>
          <p:cNvPr id="66" name="Shape 64"/>
          <p:cNvSpPr/>
          <p:nvPr/>
        </p:nvSpPr>
        <p:spPr>
          <a:xfrm>
            <a:off x="3886200" y="4709160"/>
            <a:ext cx="146304" cy="146304"/>
          </a:xfrm>
          <a:prstGeom prst="rect">
            <a:avLst/>
          </a:prstGeom>
          <a:solidFill>
            <a:srgbClr val="9FD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7" name="Text 65"/>
          <p:cNvSpPr/>
          <p:nvPr/>
        </p:nvSpPr>
        <p:spPr>
          <a:xfrm>
            <a:off x="4178808" y="46360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0E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450" dirty="0"/>
          </a:p>
        </p:txBody>
      </p:sp>
      <p:sp>
        <p:nvSpPr>
          <p:cNvPr id="68" name="Shape 66"/>
          <p:cNvSpPr/>
          <p:nvPr/>
        </p:nvSpPr>
        <p:spPr>
          <a:xfrm>
            <a:off x="3886200" y="5422392"/>
            <a:ext cx="146304" cy="146304"/>
          </a:xfrm>
          <a:prstGeom prst="rect">
            <a:avLst/>
          </a:prstGeom>
          <a:solidFill>
            <a:srgbClr val="9FD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9" name="Text 67"/>
          <p:cNvSpPr/>
          <p:nvPr/>
        </p:nvSpPr>
        <p:spPr>
          <a:xfrm>
            <a:off x="4178808" y="53492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4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photo together</a:t>
            </a:r>
            <a:endParaRPr lang="en-US" sz="1450" dirty="0"/>
          </a:p>
        </p:txBody>
      </p:sp>
      <p:sp>
        <p:nvSpPr>
          <p:cNvPr id="70" name="Text 68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lanyard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C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6E98DD52-F0F8-0260-F603-F73321B40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5757" y="1339006"/>
            <a:ext cx="3153075" cy="5167540"/>
          </a:xfrm>
          <a:prstGeom prst="rect">
            <a:avLst/>
          </a:prstGeom>
        </p:spPr>
      </p:pic>
      <p:sp>
        <p:nvSpPr>
          <p:cNvPr id="76" name="Shape 2">
            <a:extLst>
              <a:ext uri="{FF2B5EF4-FFF2-40B4-BE49-F238E27FC236}">
                <a16:creationId xmlns:a16="http://schemas.microsoft.com/office/drawing/2014/main" id="{34368976-5405-6652-6CF1-D9AF47BE7B62}"/>
              </a:ext>
            </a:extLst>
          </p:cNvPr>
          <p:cNvSpPr/>
          <p:nvPr/>
        </p:nvSpPr>
        <p:spPr>
          <a:xfrm>
            <a:off x="11993852" y="256032"/>
            <a:ext cx="201168" cy="1828800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8" name="Shape 3">
            <a:extLst>
              <a:ext uri="{FF2B5EF4-FFF2-40B4-BE49-F238E27FC236}">
                <a16:creationId xmlns:a16="http://schemas.microsoft.com/office/drawing/2014/main" id="{5D533E79-3994-37E8-442A-C71E6CD2A226}"/>
              </a:ext>
            </a:extLst>
          </p:cNvPr>
          <p:cNvSpPr/>
          <p:nvPr/>
        </p:nvSpPr>
        <p:spPr>
          <a:xfrm>
            <a:off x="11993852" y="256032"/>
            <a:ext cx="1828800" cy="201168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0" name="Shape 4">
            <a:extLst>
              <a:ext uri="{FF2B5EF4-FFF2-40B4-BE49-F238E27FC236}">
                <a16:creationId xmlns:a16="http://schemas.microsoft.com/office/drawing/2014/main" id="{ABF7F88E-579E-0C26-7A6A-D1FDA5049CF5}"/>
              </a:ext>
            </a:extLst>
          </p:cNvPr>
          <p:cNvSpPr/>
          <p:nvPr/>
        </p:nvSpPr>
        <p:spPr>
          <a:xfrm>
            <a:off x="256032" y="6660159"/>
            <a:ext cx="201168" cy="1828800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2" name="Shape 5">
            <a:extLst>
              <a:ext uri="{FF2B5EF4-FFF2-40B4-BE49-F238E27FC236}">
                <a16:creationId xmlns:a16="http://schemas.microsoft.com/office/drawing/2014/main" id="{73BF4E39-59D5-AC8C-2C4F-AC509F2C530F}"/>
              </a:ext>
            </a:extLst>
          </p:cNvPr>
          <p:cNvSpPr/>
          <p:nvPr/>
        </p:nvSpPr>
        <p:spPr>
          <a:xfrm>
            <a:off x="256032" y="6660159"/>
            <a:ext cx="1828800" cy="201168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4" name="Shape 6">
            <a:extLst>
              <a:ext uri="{FF2B5EF4-FFF2-40B4-BE49-F238E27FC236}">
                <a16:creationId xmlns:a16="http://schemas.microsoft.com/office/drawing/2014/main" id="{AED07541-36ED-CC5E-0918-735A4807BA33}"/>
              </a:ext>
            </a:extLst>
          </p:cNvPr>
          <p:cNvSpPr/>
          <p:nvPr/>
        </p:nvSpPr>
        <p:spPr>
          <a:xfrm>
            <a:off x="11993854" y="6643533"/>
            <a:ext cx="201168" cy="1828800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C529E76A-DD04-21D6-67E1-60DC8E445B99}"/>
              </a:ext>
            </a:extLst>
          </p:cNvPr>
          <p:cNvSpPr/>
          <p:nvPr/>
        </p:nvSpPr>
        <p:spPr>
          <a:xfrm>
            <a:off x="11993854" y="6643533"/>
            <a:ext cx="1828800" cy="201168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201168" cy="1828800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256032" y="256032"/>
            <a:ext cx="1828800" cy="201168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seconds. Both networks updated.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448887" y="201168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F7F8F2"/>
          </a:solidFill>
          <a:ln w="15875">
            <a:solidFill>
              <a:srgbClr val="0E1110"/>
            </a:solidFill>
            <a:prstDash val="solid"/>
          </a:ln>
          <a:effectLst>
            <a:outerShdw blurRad="101600" dist="63500" dir="2700000" algn="bl" rotWithShape="0">
              <a:srgbClr val="0E1110">
                <a:alpha val="8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77487" y="2240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616015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C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7487" y="30175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7487" y="3474720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9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your pass, the QR and 4-char code are right there.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374967" y="201168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F7F8F2"/>
          </a:solidFill>
          <a:ln w="15875">
            <a:solidFill>
              <a:srgbClr val="0E1110"/>
            </a:solidFill>
            <a:prstDash val="solid"/>
          </a:ln>
          <a:effectLst>
            <a:outerShdw blurRad="101600" dist="63500" dir="2700000" algn="bl" rotWithShape="0">
              <a:srgbClr val="0E1110">
                <a:alpha val="8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603567" y="2240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542095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C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603567" y="30175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/ type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603567" y="3474720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9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scan with their camera or enter the code in Swap.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301047" y="201168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F7F8F2"/>
          </a:solidFill>
          <a:ln w="15875">
            <a:solidFill>
              <a:srgbClr val="0E1110"/>
            </a:solidFill>
            <a:prstDash val="solid"/>
          </a:ln>
          <a:effectLst>
            <a:outerShdw blurRad="101600" dist="63500" dir="2700000" algn="bl" rotWithShape="0">
              <a:srgbClr val="0E1110">
                <a:alpha val="8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529647" y="2240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468175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C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529647" y="30175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+ photo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529647" y="3474720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9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hello note rides in the QR; optionally snap a selfie.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227127" y="201168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F7F8F2"/>
          </a:solidFill>
          <a:ln w="15875">
            <a:solidFill>
              <a:srgbClr val="0E1110"/>
            </a:solidFill>
            <a:prstDash val="solid"/>
          </a:ln>
          <a:effectLst>
            <a:outerShdw blurRad="101600" dist="63500" dir="2700000" algn="bl" rotWithShape="0">
              <a:srgbClr val="0E1110">
                <a:alpha val="8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9455727" y="2240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455727" y="30175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455727" y="3474720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9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cards, the note and the photo land in each other’s network.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40080" y="5349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 over plain HTTPS - cellular, guest Wi-Fi, anywhere. No pairing friction.</a:t>
            </a:r>
          </a:p>
        </p:txBody>
      </p:sp>
      <p:sp>
        <p:nvSpPr>
          <p:cNvPr id="32" name="Text 30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lanyard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C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  <p:sp>
        <p:nvSpPr>
          <p:cNvPr id="36" name="Shape 2">
            <a:extLst>
              <a:ext uri="{FF2B5EF4-FFF2-40B4-BE49-F238E27FC236}">
                <a16:creationId xmlns:a16="http://schemas.microsoft.com/office/drawing/2014/main" id="{89DECB17-C8FD-2DF5-84B9-8F7FA1CC68CB}"/>
              </a:ext>
            </a:extLst>
          </p:cNvPr>
          <p:cNvSpPr/>
          <p:nvPr/>
        </p:nvSpPr>
        <p:spPr>
          <a:xfrm>
            <a:off x="11993852" y="256032"/>
            <a:ext cx="201168" cy="1828800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Shape 3">
            <a:extLst>
              <a:ext uri="{FF2B5EF4-FFF2-40B4-BE49-F238E27FC236}">
                <a16:creationId xmlns:a16="http://schemas.microsoft.com/office/drawing/2014/main" id="{AA3E4E1E-E5D8-902F-2ACE-A038DAC0C917}"/>
              </a:ext>
            </a:extLst>
          </p:cNvPr>
          <p:cNvSpPr/>
          <p:nvPr/>
        </p:nvSpPr>
        <p:spPr>
          <a:xfrm>
            <a:off x="11993852" y="256032"/>
            <a:ext cx="1828800" cy="201168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D4F3CE0A-8A33-B793-6CE2-1099176514BA}"/>
              </a:ext>
            </a:extLst>
          </p:cNvPr>
          <p:cNvSpPr/>
          <p:nvPr/>
        </p:nvSpPr>
        <p:spPr>
          <a:xfrm>
            <a:off x="256032" y="6660159"/>
            <a:ext cx="201168" cy="1828800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Shape 5">
            <a:extLst>
              <a:ext uri="{FF2B5EF4-FFF2-40B4-BE49-F238E27FC236}">
                <a16:creationId xmlns:a16="http://schemas.microsoft.com/office/drawing/2014/main" id="{BB2190DC-AA73-06C4-AA3E-19DDA68483DA}"/>
              </a:ext>
            </a:extLst>
          </p:cNvPr>
          <p:cNvSpPr/>
          <p:nvPr/>
        </p:nvSpPr>
        <p:spPr>
          <a:xfrm>
            <a:off x="256032" y="6660159"/>
            <a:ext cx="1828800" cy="201168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Shape 6">
            <a:extLst>
              <a:ext uri="{FF2B5EF4-FFF2-40B4-BE49-F238E27FC236}">
                <a16:creationId xmlns:a16="http://schemas.microsoft.com/office/drawing/2014/main" id="{39EE4CDF-6D33-1A4B-BAF4-9F36EE870034}"/>
              </a:ext>
            </a:extLst>
          </p:cNvPr>
          <p:cNvSpPr/>
          <p:nvPr/>
        </p:nvSpPr>
        <p:spPr>
          <a:xfrm>
            <a:off x="11993854" y="6643533"/>
            <a:ext cx="201168" cy="1828800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Shape 7">
            <a:extLst>
              <a:ext uri="{FF2B5EF4-FFF2-40B4-BE49-F238E27FC236}">
                <a16:creationId xmlns:a16="http://schemas.microsoft.com/office/drawing/2014/main" id="{674D4A25-DE5B-0B7C-451B-818AD9CA4929}"/>
              </a:ext>
            </a:extLst>
          </p:cNvPr>
          <p:cNvSpPr/>
          <p:nvPr/>
        </p:nvSpPr>
        <p:spPr>
          <a:xfrm>
            <a:off x="11993854" y="6643533"/>
            <a:ext cx="1828800" cy="201168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201168" cy="1828800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256032" y="256032"/>
            <a:ext cx="1828800" cy="201168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STICKS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E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don’t just store a link; we store the reason you’d message them.</a:t>
            </a:r>
            <a:endParaRPr lang="en-US" sz="2900" dirty="0"/>
          </a:p>
        </p:txBody>
      </p:sp>
      <p:sp>
        <p:nvSpPr>
          <p:cNvPr id="12" name="Shape 10"/>
          <p:cNvSpPr/>
          <p:nvPr/>
        </p:nvSpPr>
        <p:spPr>
          <a:xfrm>
            <a:off x="241069" y="2192066"/>
            <a:ext cx="2660073" cy="3566160"/>
          </a:xfrm>
          <a:prstGeom prst="roundRect">
            <a:avLst>
              <a:gd name="adj" fmla="val 2078"/>
            </a:avLst>
          </a:prstGeom>
          <a:solidFill>
            <a:srgbClr val="C8F238"/>
          </a:solidFill>
          <a:ln w="15875">
            <a:solidFill>
              <a:srgbClr val="0E1110"/>
            </a:solidFill>
            <a:prstDash val="solid"/>
          </a:ln>
          <a:effectLst>
            <a:outerShdw blurRad="101600" dist="63500" dir="2700000" algn="bl" rotWithShape="0">
              <a:srgbClr val="0E1110">
                <a:alpha val="8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23702" y="247885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E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hello note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61109" y="3100647"/>
            <a:ext cx="198674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E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for every person you show. Embedded in the QR itself, so a passive lock-screen code still carries where you met.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9052560" y="2011680"/>
            <a:ext cx="2760074" cy="3566160"/>
          </a:xfrm>
          <a:prstGeom prst="roundRect">
            <a:avLst>
              <a:gd name="adj" fmla="val 2078"/>
            </a:avLst>
          </a:prstGeom>
          <a:solidFill>
            <a:srgbClr val="F7F8F2"/>
          </a:solidFill>
          <a:ln w="15875">
            <a:solidFill>
              <a:srgbClr val="0E1110"/>
            </a:solidFill>
            <a:prstDash val="solid"/>
          </a:ln>
          <a:effectLst>
            <a:outerShdw blurRad="101600" dist="63500" dir="2700000" algn="bl" rotWithShape="0">
              <a:srgbClr val="0E1110">
                <a:alpha val="8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9223745" y="2252750"/>
            <a:ext cx="27600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E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together photo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309100" y="2984270"/>
            <a:ext cx="222089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E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shared JPEG attached to both connection cards, the fastest way to remember someone and helps you connect the face to the name.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lanyard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C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B5B3CD3-8D2D-686C-F8D8-A1497CBB5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022" y="1319204"/>
            <a:ext cx="3070410" cy="310964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373D0EA-353A-A691-873D-F3EEC081A9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2085" y="4453791"/>
            <a:ext cx="3731029" cy="2238617"/>
          </a:xfrm>
          <a:prstGeom prst="rect">
            <a:avLst/>
          </a:prstGeom>
        </p:spPr>
      </p:pic>
      <p:sp>
        <p:nvSpPr>
          <p:cNvPr id="29" name="Shape 2">
            <a:extLst>
              <a:ext uri="{FF2B5EF4-FFF2-40B4-BE49-F238E27FC236}">
                <a16:creationId xmlns:a16="http://schemas.microsoft.com/office/drawing/2014/main" id="{CC76EC35-6097-02AE-A88E-48E5EF10DB0B}"/>
              </a:ext>
            </a:extLst>
          </p:cNvPr>
          <p:cNvSpPr/>
          <p:nvPr/>
        </p:nvSpPr>
        <p:spPr>
          <a:xfrm>
            <a:off x="11993852" y="256032"/>
            <a:ext cx="201168" cy="1828800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DDF1EF90-97AC-5E07-D7B8-3F4D3FDDF806}"/>
              </a:ext>
            </a:extLst>
          </p:cNvPr>
          <p:cNvSpPr/>
          <p:nvPr/>
        </p:nvSpPr>
        <p:spPr>
          <a:xfrm>
            <a:off x="11993852" y="256032"/>
            <a:ext cx="1828800" cy="201168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A4DDAA2B-6E05-85A2-5E8F-1611E7B5FDAA}"/>
              </a:ext>
            </a:extLst>
          </p:cNvPr>
          <p:cNvSpPr/>
          <p:nvPr/>
        </p:nvSpPr>
        <p:spPr>
          <a:xfrm>
            <a:off x="256032" y="6660159"/>
            <a:ext cx="201168" cy="1828800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5">
            <a:extLst>
              <a:ext uri="{FF2B5EF4-FFF2-40B4-BE49-F238E27FC236}">
                <a16:creationId xmlns:a16="http://schemas.microsoft.com/office/drawing/2014/main" id="{2E4D5CD4-C189-311C-1495-5EBD763D06FD}"/>
              </a:ext>
            </a:extLst>
          </p:cNvPr>
          <p:cNvSpPr/>
          <p:nvPr/>
        </p:nvSpPr>
        <p:spPr>
          <a:xfrm>
            <a:off x="256032" y="6660159"/>
            <a:ext cx="1828800" cy="201168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Shape 6">
            <a:extLst>
              <a:ext uri="{FF2B5EF4-FFF2-40B4-BE49-F238E27FC236}">
                <a16:creationId xmlns:a16="http://schemas.microsoft.com/office/drawing/2014/main" id="{5992EEEF-7492-F3DB-A388-7555015AA0B4}"/>
              </a:ext>
            </a:extLst>
          </p:cNvPr>
          <p:cNvSpPr/>
          <p:nvPr/>
        </p:nvSpPr>
        <p:spPr>
          <a:xfrm>
            <a:off x="11993854" y="6643533"/>
            <a:ext cx="201168" cy="1828800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2321BA62-4E02-E787-3D31-8A8EE64FBF99}"/>
              </a:ext>
            </a:extLst>
          </p:cNvPr>
          <p:cNvSpPr/>
          <p:nvPr/>
        </p:nvSpPr>
        <p:spPr>
          <a:xfrm>
            <a:off x="11993854" y="6643533"/>
            <a:ext cx="1828800" cy="201168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B662F54-C44B-9785-0EFA-B4320541E3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012" y="1557020"/>
            <a:ext cx="2658363" cy="26281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201168" cy="1828800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256032" y="256032"/>
            <a:ext cx="1828800" cy="201168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TECHNOLOGY USED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real, deployed product - near-zero cost, no app to install.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40080" y="1920240"/>
            <a:ext cx="2788920" cy="1737360"/>
          </a:xfrm>
          <a:prstGeom prst="roundRect">
            <a:avLst>
              <a:gd name="adj" fmla="val 4211"/>
            </a:avLst>
          </a:prstGeom>
          <a:solidFill>
            <a:srgbClr val="F7F8F2"/>
          </a:solidFill>
          <a:ln w="15875">
            <a:solidFill>
              <a:srgbClr val="0E1110"/>
            </a:solidFill>
            <a:prstDash val="solid"/>
          </a:ln>
          <a:effectLst>
            <a:outerShdw blurRad="101600" dist="63500" dir="2700000" algn="bl" rotWithShape="0">
              <a:srgbClr val="0E1110">
                <a:alpha val="8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896112" y="212140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E11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914400" y="3017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9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to exchange a full card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03320" y="1920240"/>
            <a:ext cx="2788920" cy="1737360"/>
          </a:xfrm>
          <a:prstGeom prst="roundRect">
            <a:avLst>
              <a:gd name="adj" fmla="val 4211"/>
            </a:avLst>
          </a:prstGeom>
          <a:solidFill>
            <a:srgbClr val="F7F8F2"/>
          </a:solidFill>
          <a:ln w="15875">
            <a:solidFill>
              <a:srgbClr val="0E1110"/>
            </a:solidFill>
            <a:prstDash val="solid"/>
          </a:ln>
          <a:effectLst>
            <a:outerShdw blurRad="101600" dist="63500" dir="2700000" algn="bl" rotWithShape="0">
              <a:srgbClr val="0E1110">
                <a:alpha val="8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959352" y="212140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E11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3977640" y="3017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9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characters to join without a camera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886200"/>
            <a:ext cx="2788920" cy="1737360"/>
          </a:xfrm>
          <a:prstGeom prst="roundRect">
            <a:avLst>
              <a:gd name="adj" fmla="val 4211"/>
            </a:avLst>
          </a:prstGeom>
          <a:solidFill>
            <a:srgbClr val="F7F8F2"/>
          </a:solidFill>
          <a:ln w="15875">
            <a:solidFill>
              <a:srgbClr val="0E1110"/>
            </a:solidFill>
            <a:prstDash val="solid"/>
          </a:ln>
          <a:effectLst>
            <a:outerShdw blurRad="101600" dist="63500" dir="2700000" algn="bl" rotWithShape="0">
              <a:srgbClr val="0E1110">
                <a:alpha val="8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896112" y="408736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E11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914400" y="4983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9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to install — runs in the browser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703320" y="3886200"/>
            <a:ext cx="2788920" cy="1737360"/>
          </a:xfrm>
          <a:prstGeom prst="roundRect">
            <a:avLst>
              <a:gd name="adj" fmla="val 4211"/>
            </a:avLst>
          </a:prstGeom>
          <a:solidFill>
            <a:srgbClr val="F7F8F2"/>
          </a:solidFill>
          <a:ln w="15875">
            <a:solidFill>
              <a:srgbClr val="0E1110"/>
            </a:solidFill>
            <a:prstDash val="solid"/>
          </a:ln>
          <a:effectLst>
            <a:outerShdw blurRad="101600" dist="63500" dir="2700000" algn="bl" rotWithShape="0">
              <a:srgbClr val="0E1110">
                <a:alpha val="8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959352" y="408736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E11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 s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3977640" y="4983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9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 reciprocal connection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4088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C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40880" y="2377440"/>
            <a:ext cx="2103120" cy="347472"/>
          </a:xfrm>
          <a:prstGeom prst="roundRect">
            <a:avLst>
              <a:gd name="adj" fmla="val 15789"/>
            </a:avLst>
          </a:prstGeom>
          <a:solidFill>
            <a:srgbClr val="C8F238"/>
          </a:solidFill>
          <a:ln w="12700">
            <a:solidFill>
              <a:srgbClr val="0E111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7040880" y="24414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11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VUE 3 + VITE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281160" y="2377440"/>
            <a:ext cx="2103120" cy="347472"/>
          </a:xfrm>
          <a:prstGeom prst="roundRect">
            <a:avLst>
              <a:gd name="adj" fmla="val 15789"/>
            </a:avLst>
          </a:prstGeom>
          <a:solidFill>
            <a:srgbClr val="C8F238"/>
          </a:solidFill>
          <a:ln w="12700">
            <a:solidFill>
              <a:srgbClr val="0E111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9281160" y="24414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11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CLOUDFLARE WORKERS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040880" y="2944368"/>
            <a:ext cx="2103120" cy="347472"/>
          </a:xfrm>
          <a:prstGeom prst="roundRect">
            <a:avLst>
              <a:gd name="adj" fmla="val 15789"/>
            </a:avLst>
          </a:prstGeom>
          <a:solidFill>
            <a:srgbClr val="C8F238"/>
          </a:solidFill>
          <a:ln w="12700">
            <a:solidFill>
              <a:srgbClr val="0E111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7040880" y="300837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11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CLOUDFLARE KV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281160" y="2944368"/>
            <a:ext cx="2103120" cy="347472"/>
          </a:xfrm>
          <a:prstGeom prst="roundRect">
            <a:avLst>
              <a:gd name="adj" fmla="val 15789"/>
            </a:avLst>
          </a:prstGeom>
          <a:solidFill>
            <a:srgbClr val="C8F238"/>
          </a:solidFill>
          <a:ln w="12700">
            <a:solidFill>
              <a:srgbClr val="0E111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9281160" y="300837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11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CLIENT-SIDE QR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040880" y="3511296"/>
            <a:ext cx="2103120" cy="347472"/>
          </a:xfrm>
          <a:prstGeom prst="roundRect">
            <a:avLst>
              <a:gd name="adj" fmla="val 15789"/>
            </a:avLst>
          </a:prstGeom>
          <a:solidFill>
            <a:srgbClr val="C8F238"/>
          </a:solidFill>
          <a:ln w="12700">
            <a:solidFill>
              <a:srgbClr val="0E111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7040880" y="357530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11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WEBRTC-FREE HTTPS RELAY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281160" y="3511296"/>
            <a:ext cx="2103120" cy="347472"/>
          </a:xfrm>
          <a:prstGeom prst="roundRect">
            <a:avLst>
              <a:gd name="adj" fmla="val 15789"/>
            </a:avLst>
          </a:prstGeom>
          <a:solidFill>
            <a:srgbClr val="C8F238"/>
          </a:solidFill>
          <a:ln w="12700">
            <a:solidFill>
              <a:srgbClr val="0E111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9281160" y="357530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11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FOLLOW-UPS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040880" y="45720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9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 comfortably covers a campus-scale demo: 100k KV reads / day.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lanyard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C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  <p:sp>
        <p:nvSpPr>
          <p:cNvPr id="41" name="Shape 2">
            <a:extLst>
              <a:ext uri="{FF2B5EF4-FFF2-40B4-BE49-F238E27FC236}">
                <a16:creationId xmlns:a16="http://schemas.microsoft.com/office/drawing/2014/main" id="{3BAF61E7-B076-16DC-37C7-798F178F0673}"/>
              </a:ext>
            </a:extLst>
          </p:cNvPr>
          <p:cNvSpPr/>
          <p:nvPr/>
        </p:nvSpPr>
        <p:spPr>
          <a:xfrm>
            <a:off x="11993852" y="256032"/>
            <a:ext cx="201168" cy="1828800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Shape 3">
            <a:extLst>
              <a:ext uri="{FF2B5EF4-FFF2-40B4-BE49-F238E27FC236}">
                <a16:creationId xmlns:a16="http://schemas.microsoft.com/office/drawing/2014/main" id="{1300939D-27DD-415F-E46B-02207405F906}"/>
              </a:ext>
            </a:extLst>
          </p:cNvPr>
          <p:cNvSpPr/>
          <p:nvPr/>
        </p:nvSpPr>
        <p:spPr>
          <a:xfrm>
            <a:off x="11993852" y="256032"/>
            <a:ext cx="1828800" cy="201168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Shape 4">
            <a:extLst>
              <a:ext uri="{FF2B5EF4-FFF2-40B4-BE49-F238E27FC236}">
                <a16:creationId xmlns:a16="http://schemas.microsoft.com/office/drawing/2014/main" id="{3C2FE02F-0D1D-6BD7-6C18-8B2B43BD649B}"/>
              </a:ext>
            </a:extLst>
          </p:cNvPr>
          <p:cNvSpPr/>
          <p:nvPr/>
        </p:nvSpPr>
        <p:spPr>
          <a:xfrm>
            <a:off x="256032" y="6660159"/>
            <a:ext cx="201168" cy="1828800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Shape 5">
            <a:extLst>
              <a:ext uri="{FF2B5EF4-FFF2-40B4-BE49-F238E27FC236}">
                <a16:creationId xmlns:a16="http://schemas.microsoft.com/office/drawing/2014/main" id="{5881857A-A8DE-E677-04FD-5C4614FB277B}"/>
              </a:ext>
            </a:extLst>
          </p:cNvPr>
          <p:cNvSpPr/>
          <p:nvPr/>
        </p:nvSpPr>
        <p:spPr>
          <a:xfrm>
            <a:off x="256032" y="6660159"/>
            <a:ext cx="1828800" cy="201168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Shape 6">
            <a:extLst>
              <a:ext uri="{FF2B5EF4-FFF2-40B4-BE49-F238E27FC236}">
                <a16:creationId xmlns:a16="http://schemas.microsoft.com/office/drawing/2014/main" id="{F569AF78-9CDE-F4B7-1F70-0531101AB177}"/>
              </a:ext>
            </a:extLst>
          </p:cNvPr>
          <p:cNvSpPr/>
          <p:nvPr/>
        </p:nvSpPr>
        <p:spPr>
          <a:xfrm>
            <a:off x="11993854" y="6643533"/>
            <a:ext cx="201168" cy="1828800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Shape 7">
            <a:extLst>
              <a:ext uri="{FF2B5EF4-FFF2-40B4-BE49-F238E27FC236}">
                <a16:creationId xmlns:a16="http://schemas.microsoft.com/office/drawing/2014/main" id="{18038E6D-78FB-97C4-839E-339832D0998B}"/>
              </a:ext>
            </a:extLst>
          </p:cNvPr>
          <p:cNvSpPr/>
          <p:nvPr/>
        </p:nvSpPr>
        <p:spPr>
          <a:xfrm>
            <a:off x="11993854" y="6643533"/>
            <a:ext cx="1828800" cy="201168"/>
          </a:xfrm>
          <a:prstGeom prst="rect">
            <a:avLst/>
          </a:prstGeom>
          <a:solidFill>
            <a:srgbClr val="CFD3C3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201168" cy="1828800"/>
          </a:xfrm>
          <a:prstGeom prst="rect">
            <a:avLst/>
          </a:prstGeom>
          <a:solidFill>
            <a:srgbClr val="C8F2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256032" y="256032"/>
            <a:ext cx="1828800" cy="201168"/>
          </a:xfrm>
          <a:prstGeom prst="rect">
            <a:avLst/>
          </a:prstGeom>
          <a:solidFill>
            <a:srgbClr val="C8F2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40080" y="137160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“nice to meet you”</a:t>
            </a:r>
            <a:endParaRPr lang="en-US" sz="44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actually meeting again.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9C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r>
              <a:rPr lang="en-US" sz="1800" dirty="0">
                <a:solidFill>
                  <a:srgbClr val="C9C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anyard turns every campus encounter into a card, a note and a face — so the people you meet become the network you keep.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4754880"/>
            <a:ext cx="4572000" cy="347472"/>
          </a:xfrm>
          <a:prstGeom prst="roundRect">
            <a:avLst>
              <a:gd name="adj" fmla="val 15789"/>
            </a:avLst>
          </a:prstGeom>
          <a:solidFill>
            <a:srgbClr val="C8F238"/>
          </a:solidFill>
          <a:ln w="12700">
            <a:solidFill>
              <a:srgbClr val="0E111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40080" y="48188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11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IT - SCAN OR ENTER THE CODE LIVE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326880" y="1371600"/>
            <a:ext cx="21945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0E1110"/>
            </a:solidFill>
            <a:prstDash val="solid"/>
          </a:ln>
          <a:effectLst>
            <a:outerShdw blurRad="101600" dist="63500" dir="2700000" algn="bl" rotWithShape="0">
              <a:srgbClr val="0E1110">
                <a:alpha val="8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932688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11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TO TRY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" y="6035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F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lanyard</a:t>
            </a:r>
            <a:endParaRPr lang="en-US" sz="1300" dirty="0"/>
          </a:p>
        </p:txBody>
      </p:sp>
      <p:sp>
        <p:nvSpPr>
          <p:cNvPr id="40" name="Shape 2">
            <a:extLst>
              <a:ext uri="{FF2B5EF4-FFF2-40B4-BE49-F238E27FC236}">
                <a16:creationId xmlns:a16="http://schemas.microsoft.com/office/drawing/2014/main" id="{5B717791-EFB2-5426-9CB2-AD815EC03823}"/>
              </a:ext>
            </a:extLst>
          </p:cNvPr>
          <p:cNvSpPr/>
          <p:nvPr/>
        </p:nvSpPr>
        <p:spPr>
          <a:xfrm>
            <a:off x="11993854" y="256032"/>
            <a:ext cx="201168" cy="1828800"/>
          </a:xfrm>
          <a:prstGeom prst="rect">
            <a:avLst/>
          </a:prstGeom>
          <a:solidFill>
            <a:srgbClr val="C8F2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Shape 3">
            <a:extLst>
              <a:ext uri="{FF2B5EF4-FFF2-40B4-BE49-F238E27FC236}">
                <a16:creationId xmlns:a16="http://schemas.microsoft.com/office/drawing/2014/main" id="{35D098F8-B80B-584E-5ED6-F94083AEA330}"/>
              </a:ext>
            </a:extLst>
          </p:cNvPr>
          <p:cNvSpPr/>
          <p:nvPr/>
        </p:nvSpPr>
        <p:spPr>
          <a:xfrm>
            <a:off x="11993854" y="256032"/>
            <a:ext cx="1828800" cy="201168"/>
          </a:xfrm>
          <a:prstGeom prst="rect">
            <a:avLst/>
          </a:prstGeom>
          <a:solidFill>
            <a:srgbClr val="C8F2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Shape 4">
            <a:extLst>
              <a:ext uri="{FF2B5EF4-FFF2-40B4-BE49-F238E27FC236}">
                <a16:creationId xmlns:a16="http://schemas.microsoft.com/office/drawing/2014/main" id="{409B978A-51B1-BB6A-08FE-998E234CD5C0}"/>
              </a:ext>
            </a:extLst>
          </p:cNvPr>
          <p:cNvSpPr/>
          <p:nvPr/>
        </p:nvSpPr>
        <p:spPr>
          <a:xfrm>
            <a:off x="256032" y="6660158"/>
            <a:ext cx="201168" cy="1828800"/>
          </a:xfrm>
          <a:prstGeom prst="rect">
            <a:avLst/>
          </a:prstGeom>
          <a:solidFill>
            <a:srgbClr val="C8F2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Shape 5">
            <a:extLst>
              <a:ext uri="{FF2B5EF4-FFF2-40B4-BE49-F238E27FC236}">
                <a16:creationId xmlns:a16="http://schemas.microsoft.com/office/drawing/2014/main" id="{F7284D86-B837-0498-2801-4CEDB7249BAE}"/>
              </a:ext>
            </a:extLst>
          </p:cNvPr>
          <p:cNvSpPr/>
          <p:nvPr/>
        </p:nvSpPr>
        <p:spPr>
          <a:xfrm>
            <a:off x="256032" y="6660158"/>
            <a:ext cx="1828800" cy="201168"/>
          </a:xfrm>
          <a:prstGeom prst="rect">
            <a:avLst/>
          </a:prstGeom>
          <a:solidFill>
            <a:srgbClr val="C8F2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Shape 6">
            <a:extLst>
              <a:ext uri="{FF2B5EF4-FFF2-40B4-BE49-F238E27FC236}">
                <a16:creationId xmlns:a16="http://schemas.microsoft.com/office/drawing/2014/main" id="{D1880C1E-D2F1-C99D-405D-559FD91519F4}"/>
              </a:ext>
            </a:extLst>
          </p:cNvPr>
          <p:cNvSpPr/>
          <p:nvPr/>
        </p:nvSpPr>
        <p:spPr>
          <a:xfrm>
            <a:off x="11993852" y="6668469"/>
            <a:ext cx="201168" cy="1828800"/>
          </a:xfrm>
          <a:prstGeom prst="rect">
            <a:avLst/>
          </a:prstGeom>
          <a:solidFill>
            <a:srgbClr val="C8F2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Shape 7">
            <a:extLst>
              <a:ext uri="{FF2B5EF4-FFF2-40B4-BE49-F238E27FC236}">
                <a16:creationId xmlns:a16="http://schemas.microsoft.com/office/drawing/2014/main" id="{EAC1FCA9-6105-1231-8483-F9E19BA6CDA9}"/>
              </a:ext>
            </a:extLst>
          </p:cNvPr>
          <p:cNvSpPr/>
          <p:nvPr/>
        </p:nvSpPr>
        <p:spPr>
          <a:xfrm>
            <a:off x="11993852" y="6668469"/>
            <a:ext cx="1828800" cy="201168"/>
          </a:xfrm>
          <a:prstGeom prst="rect">
            <a:avLst/>
          </a:prstGeom>
          <a:solidFill>
            <a:srgbClr val="C8F238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595</Words>
  <Application>Microsoft Office PowerPoint</Application>
  <PresentationFormat>Widescreen</PresentationFormat>
  <Paragraphs>112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UCL Claude Builders Club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Lanyard — student networking that sticks</dc:title>
  <dc:subject>Student networking that sticks</dc:subject>
  <dc:creator>Lanyard</dc:creator>
  <cp:lastModifiedBy>Yinjun Shao</cp:lastModifiedBy>
  <cp:revision>3</cp:revision>
  <dcterms:created xsi:type="dcterms:W3CDTF">2026-10-15T19:48:40Z</dcterms:created>
  <dcterms:modified xsi:type="dcterms:W3CDTF">2026-10-15T23:28:09Z</dcterms:modified>
</cp:coreProperties>
</file>